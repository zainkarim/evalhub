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6" r:id="rId3"/>
    <p:sldId id="267" r:id="rId4"/>
    <p:sldId id="270" r:id="rId5"/>
    <p:sldId id="262" r:id="rId6"/>
    <p:sldId id="269" r:id="rId7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F1F"/>
    <a:srgbClr val="7AC0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-3210" y="-96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7" y="0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/>
          <a:lstStyle>
            <a:lvl1pPr algn="r">
              <a:defRPr sz="1200"/>
            </a:lvl1pPr>
          </a:lstStyle>
          <a:p>
            <a:fld id="{C0287AE3-470F-48D7-8AFA-31CB247DB66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8" rIns="93177" bIns="4658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8" rIns="93177" bIns="4658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7" y="8829967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 anchor="b"/>
          <a:lstStyle>
            <a:lvl1pPr algn="r">
              <a:defRPr sz="1200"/>
            </a:lvl1pPr>
          </a:lstStyle>
          <a:p>
            <a:fld id="{1A979886-74EF-4642-AE36-6DD0E1908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51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979886-74EF-4642-AE36-6DD0E190882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979886-74EF-4642-AE36-6DD0E190882A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979886-74EF-4642-AE36-6DD0E190882A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2862B-D598-202B-695B-E8187DC8B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D56D13-FC09-61B6-2B08-376DC4E4C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1D8EA-9B97-E7D9-1C95-108D00801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2F886-9552-6994-2ABF-1EB8D2603F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979886-74EF-4642-AE36-6DD0E19088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07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979886-74EF-4642-AE36-6DD0E190882A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979886-74EF-4642-AE36-6DD0E190882A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45184" y="6234546"/>
            <a:ext cx="2137559" cy="579004"/>
          </a:xfrm>
        </p:spPr>
        <p:txBody>
          <a:bodyPr/>
          <a:lstStyle>
            <a:lvl1pPr>
              <a:defRPr sz="1050" b="0" i="1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Applying academic innovations to real–world engineering and computer science problems</a:t>
            </a:r>
          </a:p>
        </p:txBody>
      </p:sp>
    </p:spTree>
    <p:extLst>
      <p:ext uri="{BB962C8B-B14F-4D97-AF65-F5344CB8AC3E}">
        <p14:creationId xmlns:p14="http://schemas.microsoft.com/office/powerpoint/2010/main" val="879642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59972"/>
            <a:ext cx="82296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49562"/>
            <a:ext cx="8229600" cy="3576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59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9889" y="1508219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52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67031"/>
            <a:ext cx="8229600" cy="93828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91380"/>
            <a:ext cx="4038600" cy="38347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91380"/>
            <a:ext cx="4038600" cy="38347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2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62985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86983"/>
            <a:ext cx="4040188" cy="4039179"/>
          </a:xfrm>
        </p:spPr>
        <p:txBody>
          <a:bodyPr/>
          <a:lstStyle>
            <a:lvl1pPr marL="0" indent="0">
              <a:buFontTx/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362985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086983"/>
            <a:ext cx="4041775" cy="4039179"/>
          </a:xfrm>
        </p:spPr>
        <p:txBody>
          <a:bodyPr/>
          <a:lstStyle>
            <a:lvl1pPr marL="0" indent="0">
              <a:buFontTx/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3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11680"/>
            <a:ext cx="8229600" cy="11430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544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87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91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635161"/>
            <a:ext cx="5486400" cy="30924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53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4560C-E380-1943-B5D7-49A23CA338C0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13" descr="Engineering_Powerpoint.jp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2" y="6356350"/>
            <a:ext cx="2081048" cy="457200"/>
          </a:xfrm>
          <a:prstGeom prst="rect">
            <a:avLst/>
          </a:prstGeom>
        </p:spPr>
      </p:pic>
      <p:grpSp>
        <p:nvGrpSpPr>
          <p:cNvPr id="23" name="Group 22"/>
          <p:cNvGrpSpPr/>
          <p:nvPr userDrawn="1"/>
        </p:nvGrpSpPr>
        <p:grpSpPr>
          <a:xfrm>
            <a:off x="-3" y="6237389"/>
            <a:ext cx="9144000" cy="0"/>
            <a:chOff x="-3" y="6237389"/>
            <a:chExt cx="9144000" cy="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3" y="6237389"/>
              <a:ext cx="6658984" cy="0"/>
            </a:xfrm>
            <a:prstGeom prst="line">
              <a:avLst/>
            </a:prstGeom>
            <a:ln w="38100">
              <a:solidFill>
                <a:srgbClr val="7AC04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6658981" y="6237389"/>
              <a:ext cx="2485016" cy="0"/>
            </a:xfrm>
            <a:prstGeom prst="line">
              <a:avLst/>
            </a:prstGeom>
            <a:ln w="38100">
              <a:solidFill>
                <a:srgbClr val="E46F1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Slide Number Placeholder 5"/>
          <p:cNvSpPr txBox="1">
            <a:spLocks/>
          </p:cNvSpPr>
          <p:nvPr userDrawn="1"/>
        </p:nvSpPr>
        <p:spPr>
          <a:xfrm>
            <a:off x="6745184" y="6256062"/>
            <a:ext cx="2137559" cy="57900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50" b="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Applying academic innovations to real–world engineering and computer science problems</a:t>
            </a:r>
          </a:p>
        </p:txBody>
      </p:sp>
    </p:spTree>
    <p:extLst>
      <p:ext uri="{BB962C8B-B14F-4D97-AF65-F5344CB8AC3E}">
        <p14:creationId xmlns:p14="http://schemas.microsoft.com/office/powerpoint/2010/main" val="274962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riyan@utdallas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07220"/>
            <a:ext cx="6400800" cy="3406854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en-US" dirty="0"/>
              <a:t>Assessment Helper</a:t>
            </a:r>
            <a:endParaRPr lang="en-US" sz="2400" b="1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</a:pPr>
            <a:endParaRPr lang="en-US" sz="2400" b="1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sz="2400" b="1" dirty="0">
                <a:solidFill>
                  <a:prstClr val="black"/>
                </a:solidFill>
              </a:rPr>
              <a:t>Prof. Priya Narayanasami</a:t>
            </a:r>
          </a:p>
          <a:p>
            <a:pPr lvl="0">
              <a:spcBef>
                <a:spcPts val="0"/>
              </a:spcBef>
            </a:pPr>
            <a:r>
              <a:rPr lang="en-US" sz="2400" b="1" dirty="0">
                <a:solidFill>
                  <a:prstClr val="black"/>
                </a:solidFill>
                <a:hlinkClick r:id="rId3"/>
              </a:rPr>
              <a:t>priyan@utdallas.edu</a:t>
            </a:r>
            <a:endParaRPr lang="en-US" sz="2400" b="1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sz="2400" b="1" dirty="0">
                <a:solidFill>
                  <a:prstClr val="black"/>
                </a:solidFill>
              </a:rPr>
              <a:t>UTD Department of Computer Science </a:t>
            </a:r>
          </a:p>
          <a:p>
            <a:pPr lvl="0">
              <a:spcBef>
                <a:spcPts val="0"/>
              </a:spcBef>
            </a:pPr>
            <a:endParaRPr lang="en-US" sz="1800" b="1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</a:pPr>
            <a:endParaRPr lang="en-US" sz="1800" b="1" dirty="0">
              <a:solidFill>
                <a:prstClr val="black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40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737" y="1170687"/>
            <a:ext cx="5000334" cy="643246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prstClr val="black"/>
                </a:solidFill>
              </a:rPr>
              <a:t>Assessment Helper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205990"/>
            <a:ext cx="7315200" cy="3440430"/>
          </a:xfrm>
        </p:spPr>
        <p:txBody>
          <a:bodyPr>
            <a:normAutofit fontScale="55000" lnSpcReduction="20000"/>
          </a:bodyPr>
          <a:lstStyle/>
          <a:p>
            <a:pPr lvl="0" algn="l">
              <a:spcBef>
                <a:spcPts val="0"/>
              </a:spcBef>
            </a:pPr>
            <a:r>
              <a:rPr lang="en-US" b="1" dirty="0">
                <a:solidFill>
                  <a:prstClr val="black"/>
                </a:solidFill>
              </a:rPr>
              <a:t>Project Background: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Managing teaching evaluations, course histories, and assessment-observation workflows is currently labor‑intensive and scattered across spreadsheets, emails, and manual tracking.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With ~100 teachers, dozens of courses, and semester‑based observation cycles, it would be nice to have a unified system to automate evaluation scheduling, simplify assessment coordination, and ensure transparency and compliance.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This project will significantly reduce administrative overhead, improve accuracy, and create a scalable platform that future educational institutions could adopt.</a:t>
            </a:r>
          </a:p>
        </p:txBody>
      </p:sp>
    </p:spTree>
    <p:extLst>
      <p:ext uri="{BB962C8B-B14F-4D97-AF65-F5344CB8AC3E}">
        <p14:creationId xmlns:p14="http://schemas.microsoft.com/office/powerpoint/2010/main" val="328866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737" y="1170687"/>
            <a:ext cx="5000334" cy="643246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prstClr val="black"/>
                </a:solidFill>
              </a:rPr>
              <a:t>Assessment Helper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943100"/>
            <a:ext cx="7315200" cy="3703320"/>
          </a:xfrm>
        </p:spPr>
        <p:txBody>
          <a:bodyPr>
            <a:normAutofit fontScale="85000" lnSpcReduction="20000"/>
          </a:bodyPr>
          <a:lstStyle/>
          <a:p>
            <a:pPr lvl="0">
              <a:spcBef>
                <a:spcPts val="0"/>
              </a:spcBef>
            </a:pPr>
            <a:r>
              <a:rPr lang="en-US" sz="2000" b="1" dirty="0">
                <a:solidFill>
                  <a:prstClr val="black"/>
                </a:solidFill>
              </a:rPr>
              <a:t>Project Objectives</a:t>
            </a:r>
          </a:p>
          <a:p>
            <a:pPr lvl="0" algn="l">
              <a:spcBef>
                <a:spcPts val="0"/>
              </a:spcBef>
            </a:pPr>
            <a:r>
              <a:rPr lang="en-US" sz="1800" b="1" dirty="0">
                <a:solidFill>
                  <a:prstClr val="black"/>
                </a:solidFill>
              </a:rPr>
              <a:t>Primary Objectives</a:t>
            </a:r>
            <a:r>
              <a:rPr lang="en-US" sz="1800" dirty="0">
                <a:solidFill>
                  <a:prstClr val="black"/>
                </a:solidFill>
              </a:rPr>
              <a:t>:</a:t>
            </a:r>
          </a:p>
          <a:p>
            <a:pPr marL="342900" lvl="0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</a:rPr>
              <a:t>Build a centralized system that manages:</a:t>
            </a:r>
          </a:p>
          <a:p>
            <a:pPr marL="800100" lvl="1" indent="-342900" algn="l">
              <a:spcBef>
                <a:spcPts val="0"/>
              </a:spcBef>
              <a:buFont typeface="+mj-lt"/>
              <a:buAutoNum type="alphaUcPeriod"/>
            </a:pPr>
            <a:r>
              <a:rPr lang="en-US" sz="1600" dirty="0">
                <a:solidFill>
                  <a:prstClr val="black"/>
                </a:solidFill>
              </a:rPr>
              <a:t>Teacher profile (focus areas, current level, evaluation cycle)</a:t>
            </a:r>
          </a:p>
          <a:p>
            <a:pPr marL="800100" lvl="1" indent="-342900" algn="l">
              <a:spcBef>
                <a:spcPts val="0"/>
              </a:spcBef>
              <a:buFont typeface="+mj-lt"/>
              <a:buAutoNum type="alphaUcPeriod"/>
            </a:pPr>
            <a:r>
              <a:rPr lang="en-US" sz="1600" dirty="0">
                <a:solidFill>
                  <a:prstClr val="black"/>
                </a:solidFill>
              </a:rPr>
              <a:t>Course metadata (sections, schedule, historical instructors)</a:t>
            </a:r>
          </a:p>
          <a:p>
            <a:pPr marL="800100" lvl="1" indent="-342900" algn="l">
              <a:spcBef>
                <a:spcPts val="0"/>
              </a:spcBef>
              <a:buFont typeface="+mj-lt"/>
              <a:buAutoNum type="alphaUcPeriod"/>
            </a:pPr>
            <a:r>
              <a:rPr lang="en-US" sz="1600" dirty="0">
                <a:solidFill>
                  <a:prstClr val="black"/>
                </a:solidFill>
              </a:rPr>
              <a:t>Assessment workflow (sign‑up, matching, observer confirmation, reporting)</a:t>
            </a:r>
          </a:p>
          <a:p>
            <a:pPr marL="342900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</a:rPr>
              <a:t>Automate evaluation scheduling, based on hiring‑level rules.</a:t>
            </a:r>
          </a:p>
          <a:p>
            <a:pPr marL="342900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</a:rPr>
              <a:t>Generate observer lists using focus‑area matching.</a:t>
            </a:r>
          </a:p>
          <a:p>
            <a:pPr marL="342900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</a:rPr>
              <a:t>Track observation agreements and submissions.</a:t>
            </a:r>
          </a:p>
          <a:p>
            <a:pPr marL="342900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</a:rPr>
              <a:t>Provide dashboards for the Assessment Committee</a:t>
            </a:r>
            <a:r>
              <a:rPr lang="en-US" sz="2000" b="1" dirty="0">
                <a:solidFill>
                  <a:prstClr val="black"/>
                </a:solidFill>
              </a:rPr>
              <a:t>(AC)</a:t>
            </a:r>
            <a:r>
              <a:rPr lang="en-US" sz="1600" dirty="0">
                <a:solidFill>
                  <a:prstClr val="black"/>
                </a:solidFill>
              </a:rPr>
              <a:t> members and teachers.</a:t>
            </a:r>
          </a:p>
          <a:p>
            <a:pPr marL="342900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solidFill>
                  <a:prstClr val="black"/>
                </a:solidFill>
              </a:rPr>
              <a:t>For proof of concept, integration with the UTD Course Book API for historical teaching data.</a:t>
            </a:r>
          </a:p>
          <a:p>
            <a:pPr marL="342900" indent="-342900" algn="l">
              <a:spcBef>
                <a:spcPts val="0"/>
              </a:spcBef>
              <a:buFont typeface="+mj-lt"/>
              <a:buAutoNum type="arabicPeriod"/>
            </a:pPr>
            <a:endParaRPr lang="en-US" sz="1800" b="1" dirty="0">
              <a:solidFill>
                <a:prstClr val="black"/>
              </a:solidFill>
            </a:endParaRPr>
          </a:p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prstClr val="black"/>
                </a:solidFill>
              </a:rPr>
              <a:t>Stretch Goals</a:t>
            </a:r>
          </a:p>
          <a:p>
            <a:pPr marL="342900" lvl="0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</a:rPr>
              <a:t>Automated email notifications for deadlines and confirmations.</a:t>
            </a:r>
          </a:p>
          <a:p>
            <a:pPr marL="342900" lvl="0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</a:rPr>
              <a:t>Semester‑based workload analytics for teachers.</a:t>
            </a:r>
          </a:p>
          <a:p>
            <a:pPr marL="342900" lvl="0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</a:rPr>
              <a:t>Role‑based access control (</a:t>
            </a:r>
            <a:r>
              <a:rPr lang="en-US" sz="1600" b="1" dirty="0">
                <a:solidFill>
                  <a:prstClr val="black"/>
                </a:solidFill>
              </a:rPr>
              <a:t>AC </a:t>
            </a:r>
            <a:r>
              <a:rPr lang="en-US" sz="1600" dirty="0">
                <a:solidFill>
                  <a:prstClr val="black"/>
                </a:solidFill>
              </a:rPr>
              <a:t>members, faculty, admin).</a:t>
            </a:r>
          </a:p>
          <a:p>
            <a:pPr marL="342900" lvl="0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</a:rPr>
              <a:t>Exportable evaluation and observation reports.</a:t>
            </a:r>
          </a:p>
          <a:p>
            <a:pPr marL="342900" lvl="0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</a:rPr>
              <a:t>Calendar integration for observation scheduling.</a:t>
            </a:r>
          </a:p>
        </p:txBody>
      </p:sp>
    </p:spTree>
    <p:extLst>
      <p:ext uri="{BB962C8B-B14F-4D97-AF65-F5344CB8AC3E}">
        <p14:creationId xmlns:p14="http://schemas.microsoft.com/office/powerpoint/2010/main" val="4126573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21B80-D649-D21D-7298-B4F38EA7E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CA7F9-9C33-D6D3-00AA-446658ED8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737" y="1170687"/>
            <a:ext cx="5000334" cy="643246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prstClr val="black"/>
                </a:solidFill>
              </a:rPr>
              <a:t>Assessment Helper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BC991C-A206-4B16-B4EC-FB4B228EF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943099"/>
            <a:ext cx="7315200" cy="4029075"/>
          </a:xfrm>
        </p:spPr>
        <p:txBody>
          <a:bodyPr>
            <a:normAutofit fontScale="55000" lnSpcReduction="20000"/>
          </a:bodyPr>
          <a:lstStyle/>
          <a:p>
            <a:pPr lvl="0">
              <a:spcBef>
                <a:spcPts val="0"/>
              </a:spcBef>
            </a:pPr>
            <a:r>
              <a:rPr lang="en-US" sz="2500" b="1" dirty="0">
                <a:solidFill>
                  <a:prstClr val="black"/>
                </a:solidFill>
              </a:rPr>
              <a:t>Key Performance Indicators</a:t>
            </a:r>
          </a:p>
          <a:p>
            <a:pPr lvl="0">
              <a:spcBef>
                <a:spcPts val="0"/>
              </a:spcBef>
            </a:pPr>
            <a:endParaRPr lang="en-US" sz="2500" b="1" dirty="0">
              <a:solidFill>
                <a:prstClr val="black"/>
              </a:solidFill>
            </a:endParaRPr>
          </a:p>
          <a:p>
            <a:pPr marL="342900" lvl="0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2500" b="1" dirty="0">
                <a:solidFill>
                  <a:prstClr val="black"/>
                </a:solidFill>
              </a:rPr>
              <a:t>Faculty evaluation KPI</a:t>
            </a:r>
            <a:r>
              <a:rPr lang="en-US" sz="2500" dirty="0">
                <a:solidFill>
                  <a:prstClr val="black"/>
                </a:solidFill>
              </a:rPr>
              <a:t>:</a:t>
            </a:r>
          </a:p>
          <a:p>
            <a:pPr marL="800100" lvl="1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2500" dirty="0">
                <a:solidFill>
                  <a:prstClr val="black"/>
                </a:solidFill>
              </a:rPr>
              <a:t>Evaluation Eligibility Accuracy</a:t>
            </a:r>
          </a:p>
          <a:p>
            <a:pPr marL="800100" lvl="1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2500" dirty="0">
                <a:solidFill>
                  <a:prstClr val="black"/>
                </a:solidFill>
              </a:rPr>
              <a:t>Overdue Evaluation Count</a:t>
            </a:r>
          </a:p>
          <a:p>
            <a:pPr marL="800100" lvl="1" indent="-342900" algn="l">
              <a:spcBef>
                <a:spcPts val="0"/>
              </a:spcBef>
              <a:buFont typeface="+mj-lt"/>
              <a:buAutoNum type="arabicPeriod"/>
            </a:pPr>
            <a:endParaRPr lang="en-US" sz="2500" dirty="0">
              <a:solidFill>
                <a:prstClr val="black"/>
              </a:solidFill>
            </a:endParaRPr>
          </a:p>
          <a:p>
            <a:pPr marL="342900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2500" b="1" dirty="0">
                <a:solidFill>
                  <a:prstClr val="black"/>
                </a:solidFill>
              </a:rPr>
              <a:t>Assessment participation KPI</a:t>
            </a:r>
            <a:r>
              <a:rPr lang="en-US" sz="2500" dirty="0">
                <a:solidFill>
                  <a:prstClr val="black"/>
                </a:solidFill>
              </a:rPr>
              <a:t>:</a:t>
            </a:r>
          </a:p>
          <a:p>
            <a:pPr marL="800100" lvl="1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2500" dirty="0">
                <a:solidFill>
                  <a:prstClr val="black"/>
                </a:solidFill>
              </a:rPr>
              <a:t>Assessment Participation Rate</a:t>
            </a:r>
          </a:p>
          <a:p>
            <a:pPr marL="800100" lvl="1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2500" dirty="0">
                <a:solidFill>
                  <a:prstClr val="black"/>
                </a:solidFill>
              </a:rPr>
              <a:t>Observer Utilization Rate</a:t>
            </a:r>
          </a:p>
          <a:p>
            <a:pPr marL="800100" lvl="1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2500" dirty="0">
                <a:solidFill>
                  <a:prstClr val="black"/>
                </a:solidFill>
              </a:rPr>
              <a:t>Average observations per observer</a:t>
            </a:r>
          </a:p>
          <a:p>
            <a:pPr marL="800100" lvl="1" indent="-342900" algn="l">
              <a:spcBef>
                <a:spcPts val="0"/>
              </a:spcBef>
              <a:buFont typeface="+mj-lt"/>
              <a:buAutoNum type="arabicPeriod"/>
            </a:pPr>
            <a:endParaRPr lang="en-US" sz="2500" dirty="0">
              <a:solidFill>
                <a:prstClr val="black"/>
              </a:solidFill>
            </a:endParaRPr>
          </a:p>
          <a:p>
            <a:pPr marL="342900" lvl="0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2500" b="1" dirty="0">
                <a:solidFill>
                  <a:prstClr val="black"/>
                </a:solidFill>
              </a:rPr>
              <a:t>Recommendation Engine KPI</a:t>
            </a:r>
            <a:r>
              <a:rPr lang="en-US" sz="2500" dirty="0">
                <a:solidFill>
                  <a:prstClr val="black"/>
                </a:solidFill>
              </a:rPr>
              <a:t>:</a:t>
            </a:r>
          </a:p>
          <a:p>
            <a:pPr marL="800100" lvl="1" indent="-342900" algn="l">
              <a:spcBef>
                <a:spcPts val="0"/>
              </a:spcBef>
              <a:buFont typeface="+mj-lt"/>
              <a:buAutoNum type="alphaUcPeriod"/>
            </a:pPr>
            <a:r>
              <a:rPr lang="en-US" sz="2500" dirty="0">
                <a:solidFill>
                  <a:prstClr val="black"/>
                </a:solidFill>
              </a:rPr>
              <a:t>Focus-area match accuracy</a:t>
            </a:r>
          </a:p>
          <a:p>
            <a:pPr marL="800100" lvl="1" indent="-342900" algn="l">
              <a:spcBef>
                <a:spcPts val="0"/>
              </a:spcBef>
              <a:buFont typeface="+mj-lt"/>
              <a:buAutoNum type="alphaUcPeriod"/>
            </a:pPr>
            <a:r>
              <a:rPr lang="en-US" sz="2500" dirty="0">
                <a:solidFill>
                  <a:prstClr val="black"/>
                </a:solidFill>
              </a:rPr>
              <a:t>List sufficiency rate</a:t>
            </a:r>
          </a:p>
          <a:p>
            <a:pPr marL="800100" lvl="1" indent="-342900" algn="l">
              <a:spcBef>
                <a:spcPts val="0"/>
              </a:spcBef>
              <a:buFont typeface="+mj-lt"/>
              <a:buAutoNum type="alphaUcPeriod"/>
            </a:pPr>
            <a:endParaRPr lang="en-US" sz="2500" dirty="0">
              <a:solidFill>
                <a:prstClr val="black"/>
              </a:solidFill>
            </a:endParaRPr>
          </a:p>
          <a:p>
            <a:pPr marL="342900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2500" b="1" dirty="0">
                <a:solidFill>
                  <a:prstClr val="black"/>
                </a:solidFill>
              </a:rPr>
              <a:t>Survey &amp; Observation Completion KPI</a:t>
            </a:r>
            <a:r>
              <a:rPr lang="en-US" sz="2500" dirty="0">
                <a:solidFill>
                  <a:prstClr val="black"/>
                </a:solidFill>
              </a:rPr>
              <a:t>:</a:t>
            </a:r>
          </a:p>
          <a:p>
            <a:pPr marL="800100" lvl="1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2500" dirty="0">
                <a:solidFill>
                  <a:prstClr val="black"/>
                </a:solidFill>
              </a:rPr>
              <a:t>Survey Completion Rate</a:t>
            </a:r>
          </a:p>
          <a:p>
            <a:pPr marL="800100" lvl="1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2500" dirty="0">
                <a:solidFill>
                  <a:prstClr val="black"/>
                </a:solidFill>
              </a:rPr>
              <a:t>Missing Observation Count</a:t>
            </a:r>
          </a:p>
          <a:p>
            <a:pPr marL="800100" lvl="1" indent="-342900" algn="l">
              <a:spcBef>
                <a:spcPts val="0"/>
              </a:spcBef>
              <a:buFont typeface="+mj-lt"/>
              <a:buAutoNum type="arabicPeriod"/>
            </a:pPr>
            <a:endParaRPr lang="en-US" sz="2500" dirty="0">
              <a:solidFill>
                <a:prstClr val="black"/>
              </a:solidFill>
            </a:endParaRPr>
          </a:p>
          <a:p>
            <a:pPr marL="342900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2500" b="1" dirty="0">
                <a:solidFill>
                  <a:prstClr val="black"/>
                </a:solidFill>
              </a:rPr>
              <a:t>Executive Dashboard Metrics</a:t>
            </a:r>
            <a:r>
              <a:rPr lang="en-US" sz="2500" dirty="0">
                <a:solidFill>
                  <a:prstClr val="black"/>
                </a:solidFill>
              </a:rPr>
              <a:t>:</a:t>
            </a:r>
          </a:p>
          <a:p>
            <a:pPr marL="800100" lvl="1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2500" dirty="0">
                <a:solidFill>
                  <a:prstClr val="black"/>
                </a:solidFill>
              </a:rPr>
              <a:t>Faculty due for evaluation – breakdown based on hire-level</a:t>
            </a:r>
          </a:p>
          <a:p>
            <a:pPr marL="800100" lvl="1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2500" dirty="0">
                <a:solidFill>
                  <a:prstClr val="black"/>
                </a:solidFill>
              </a:rPr>
              <a:t>Unmatched faculty report</a:t>
            </a:r>
          </a:p>
          <a:p>
            <a:pPr marL="800100" lvl="1" indent="-342900" algn="l">
              <a:spcBef>
                <a:spcPts val="0"/>
              </a:spcBef>
              <a:buFont typeface="+mj-lt"/>
              <a:buAutoNum type="arabicPeriod"/>
            </a:pPr>
            <a:r>
              <a:rPr lang="en-US" sz="2500" dirty="0">
                <a:solidFill>
                  <a:prstClr val="black"/>
                </a:solidFill>
              </a:rPr>
              <a:t>Outstanding Observation Report</a:t>
            </a:r>
          </a:p>
          <a:p>
            <a:pPr marL="800100" lvl="1" indent="-342900" algn="l">
              <a:spcBef>
                <a:spcPts val="0"/>
              </a:spcBef>
              <a:buFont typeface="+mj-lt"/>
              <a:buAutoNum type="arabicPeriod"/>
            </a:pPr>
            <a:endParaRPr lang="en-US" sz="1200" dirty="0">
              <a:solidFill>
                <a:prstClr val="black"/>
              </a:solidFill>
            </a:endParaRPr>
          </a:p>
          <a:p>
            <a:pPr marL="800100" lvl="1" indent="-342900" algn="l">
              <a:spcBef>
                <a:spcPts val="0"/>
              </a:spcBef>
              <a:buFont typeface="+mj-lt"/>
              <a:buAutoNum type="arabicPeriod"/>
            </a:pPr>
            <a:endParaRPr lang="en-US" sz="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721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737" y="1170687"/>
            <a:ext cx="5000334" cy="643246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prstClr val="black"/>
                </a:solidFill>
              </a:rPr>
              <a:t>Assessment Helper</a:t>
            </a:r>
            <a:endParaRPr lang="en-US" sz="400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04D1971-C896-1BC9-A320-E15F81134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666150"/>
              </p:ext>
            </p:extLst>
          </p:nvPr>
        </p:nvGraphicFramePr>
        <p:xfrm>
          <a:off x="1362075" y="1939492"/>
          <a:ext cx="6962775" cy="37478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900940600"/>
                    </a:ext>
                  </a:extLst>
                </a:gridCol>
                <a:gridCol w="2116223">
                  <a:extLst>
                    <a:ext uri="{9D8B030D-6E8A-4147-A177-3AD203B41FA5}">
                      <a16:colId xmlns:a16="http://schemas.microsoft.com/office/drawing/2014/main" val="97352487"/>
                    </a:ext>
                  </a:extLst>
                </a:gridCol>
                <a:gridCol w="2118687">
                  <a:extLst>
                    <a:ext uri="{9D8B030D-6E8A-4147-A177-3AD203B41FA5}">
                      <a16:colId xmlns:a16="http://schemas.microsoft.com/office/drawing/2014/main" val="4035424077"/>
                    </a:ext>
                  </a:extLst>
                </a:gridCol>
                <a:gridCol w="2080165">
                  <a:extLst>
                    <a:ext uri="{9D8B030D-6E8A-4147-A177-3AD203B41FA5}">
                      <a16:colId xmlns:a16="http://schemas.microsoft.com/office/drawing/2014/main" val="3206184739"/>
                    </a:ext>
                  </a:extLst>
                </a:gridCol>
              </a:tblGrid>
              <a:tr h="562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S.No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Required Skills</a:t>
                      </a:r>
                    </a:p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Desired Technical Skills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Required Non‑Technical Skills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6316725"/>
                  </a:ext>
                </a:extLst>
              </a:tr>
              <a:tr h="45563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Relational database design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Workflow automation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Communication &amp; stakeholder engagement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90377421"/>
                  </a:ext>
                </a:extLst>
              </a:tr>
              <a:tr h="45563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Backend development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Authentication &amp; role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Attention to detail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76604371"/>
                  </a:ext>
                </a:extLst>
              </a:tr>
              <a:tr h="7592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Frontend development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Integration with external data sources (UTD Course Book)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Team collaboration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65410218"/>
                  </a:ext>
                </a:extLst>
              </a:tr>
              <a:tr h="7592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Requirements 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Documentation discipline - clear requirements, diagrams, and test cases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5525713"/>
                  </a:ext>
                </a:extLst>
              </a:tr>
              <a:tr h="55294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Data modeling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Ethical data handling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2821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5240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419" y="1134475"/>
            <a:ext cx="5000334" cy="643246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prstClr val="black"/>
                </a:solidFill>
              </a:rPr>
              <a:t>Assessment Helper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657350"/>
            <a:ext cx="7315200" cy="4343400"/>
          </a:xfrm>
        </p:spPr>
        <p:txBody>
          <a:bodyPr>
            <a:normAutofit fontScale="92500" lnSpcReduction="10000"/>
          </a:bodyPr>
          <a:lstStyle/>
          <a:p>
            <a:pPr lvl="0">
              <a:spcBef>
                <a:spcPts val="0"/>
              </a:spcBef>
            </a:pPr>
            <a:r>
              <a:rPr lang="en-US" b="1" dirty="0">
                <a:solidFill>
                  <a:prstClr val="black"/>
                </a:solidFill>
              </a:rPr>
              <a:t>Logistics</a:t>
            </a:r>
          </a:p>
          <a:p>
            <a:pPr lvl="0">
              <a:spcBef>
                <a:spcPts val="0"/>
              </a:spcBef>
            </a:pPr>
            <a:endParaRPr lang="en-US" sz="2400" b="1" dirty="0">
              <a:solidFill>
                <a:prstClr val="black"/>
              </a:solidFill>
            </a:endParaRPr>
          </a:p>
          <a:p>
            <a:pPr marL="342900" lvl="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Required weekly meeting with the supervising faculty or the coordinator</a:t>
            </a:r>
          </a:p>
          <a:p>
            <a:pPr marL="342900" lvl="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lvl="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Team size: [4-6]</a:t>
            </a:r>
          </a:p>
          <a:p>
            <a:pPr marL="342900" lvl="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lvl="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Meetings will be held in person or via MS Teams</a:t>
            </a:r>
          </a:p>
          <a:p>
            <a:pPr marL="342900" lvl="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lvl="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Is an NDA required? no</a:t>
            </a:r>
          </a:p>
          <a:p>
            <a:pPr marL="342900" lvl="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lvl="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Provide other relevant info: all components must be free or open source. No evaluation, no 30-day trials.</a:t>
            </a:r>
          </a:p>
        </p:txBody>
      </p:sp>
    </p:spTree>
    <p:extLst>
      <p:ext uri="{BB962C8B-B14F-4D97-AF65-F5344CB8AC3E}">
        <p14:creationId xmlns:p14="http://schemas.microsoft.com/office/powerpoint/2010/main" val="3926117516"/>
      </p:ext>
    </p:extLst>
  </p:cSld>
  <p:clrMapOvr>
    <a:masterClrMapping/>
  </p:clrMapOvr>
</p:sld>
</file>

<file path=ppt/theme/theme1.xml><?xml version="1.0" encoding="utf-8"?>
<a:theme xmlns:a="http://schemas.openxmlformats.org/drawingml/2006/main" name="corporate proposal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corporate proposal presentation</Template>
  <TotalTime>0</TotalTime>
  <Words>461</Words>
  <Application>Microsoft Office PowerPoint</Application>
  <PresentationFormat>On-screen Show (4:3)</PresentationFormat>
  <Paragraphs>97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corporate proposal presentation</vt:lpstr>
      <vt:lpstr>PowerPoint Presentation</vt:lpstr>
      <vt:lpstr>Assessment Helper</vt:lpstr>
      <vt:lpstr>Assessment Helper</vt:lpstr>
      <vt:lpstr>Assessment Helper</vt:lpstr>
      <vt:lpstr>Assessment Helper</vt:lpstr>
      <vt:lpstr>Assessment Helper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2026-08-21T15:14:24Z</dcterms:created>
  <dcterms:modified xsi:type="dcterms:W3CDTF">2026-08-21T15:14:31Z</dcterms:modified>
</cp:coreProperties>
</file>